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nature.com/articles/s41598-025-94946-7" TargetMode="External"/><Relationship Id="rId2" Type="http://schemas.openxmlformats.org/officeDocument/2006/relationships/hyperlink" Target="https://doi.org/10.1016/j.geits.2024.100177" TargetMode="External"/><Relationship Id="rId3" Type="http://schemas.openxmlformats.org/officeDocument/2006/relationships/hyperlink" Target="https://doi.org/10.3390/en16052155" TargetMode="External"/><Relationship Id="rId4" Type="http://schemas.openxmlformats.org/officeDocument/2006/relationships/hyperlink" Target="https://doi.org/10.3390/en17225582" TargetMode="External"/><Relationship Id="rId5" Type="http://schemas.openxmlformats.org/officeDocument/2006/relationships/hyperlink" Target="https://doi.org/10.3390/en16124639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 Plan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589520"/>
                <a:gridCol w="1645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1 — Literature review finalized; NASA RW dataset parsed across 3 temperature groups; remaining-time target label derived; feature engineering (rolling windows, cumulative Ah)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2 — Coulomb Counting baseline computed; Random Forest trained on identical inputs; RMSE/MAE evaluated per temperature group; cross-temperature comparison; report finalized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Months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1 — Identify expanded input parameters (acceleration, velocity, braking, charge/discharge cycles, voltage, current, temperature); generate simulation dataset using MATLAB Simulink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1–2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2 — Develop and validate models for State of Health (SOH), Range (km), and Battery Life as additional outputs; benchmark against standard baselines per 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3–5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3 — Integrate Runtime, SOC, SOH, Range, and Battery Life into one unified multi-output model; prepare and validate software stack for deployment on test vehicle hardware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6–7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Months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1 — Live field testing on real vehicle; as the vehicle is driven, data is generated in real time and the model trains/updates incrementally on live sensor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1–2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2 — Analysis and validation: all outputs (runtime, SOC, SOH, range, battery life) compared against ground truth from vehicle instruments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3 — Manuscript preparation and submission to a high-quality peer-reviewed journal (IEEE / Springer / Elsevier)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017520"/>
                <a:gridCol w="2926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(Link)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Harinarayanan &amp; Balamurugan (2025)
</a:t>
                      </a:r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Scientific Reports — Springer Nature
</a:t>
                      </a:r>
                      <a:pPr algn="l" indent="0" marL="0">
                        <a:buNone/>
                      </a:pPr>
                      <a:r>
                        <a:rPr lang="en-US" sz="900" u="sng" dirty="0">
                          <a:solidFill>
                            <a:srgbClr val="1155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nature.com/articles/s41598-025-94946-7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Directly compares Coulomb Counting, Kalman Filter, and Random Forest for SOC estimation under full cycles, shallow cycles, and dynamic WLTP/HPPC load profiles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achieved lowest error across all conditions — RMSE 0.0229, MAE 0.0139 — and specifically outperformed traditional methods during shallow cycling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only; single pouch-cell chemistry; does not address SOH, Range, or multi-output prediction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Sulaiman &amp; Mustaffa (2024)
</a:t>
                      </a:r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Energy and Intelligent Transportation — Elsevier
</a:t>
                      </a:r>
                      <a:pPr algn="l" indent="0" marL="0">
                        <a:buNone/>
                      </a:pPr>
                      <a:r>
                        <a:rPr lang="en-US" sz="900" u="sng" dirty="0">
                          <a:solidFill>
                            <a:srgbClr val="1155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doi.org/10.1016/j.geits.2024.100177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Random Forest to SOC estimation under real-world EV operating conditions to improve downstream range-prediction accuracy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captured non-linear dependencies between operating parameters and SOC more effectively than conventional estimation under dynamic driving conditions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Single-algorithm study; no comparison against deep learning alternatives; does not extend to SOH or direct range validation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Yuan, Liu, Zhou &amp; Pei (2023)
</a:t>
                      </a:r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Energies — MDPI
</a:t>
                      </a:r>
                      <a:pPr algn="l" indent="0" marL="0">
                        <a:buNone/>
                      </a:pPr>
                      <a:r>
                        <a:rPr lang="en-US" sz="900" u="sng" dirty="0">
                          <a:solidFill>
                            <a:srgbClr val="1155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doi.org/10.3390/en16052155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Systematically compares six ML algorithms (including RF, XGBoost, LSTM) combined with Kalman Filter frameworks for SOC estimation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+ Kalman Filter combination achieved highest accuracy and strong real-time performance, outperforming either approach individually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architecture adds complexity; computational overhead not fully quantified for embedded/real-time deployment on vehicle hardware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Khan, Tariq &amp; Sarwat (2024)
</a:t>
                      </a:r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Energies — MDPI
</a:t>
                      </a:r>
                      <a:pPr algn="l" indent="0" marL="0">
                        <a:buNone/>
                      </a:pPr>
                      <a:r>
                        <a:rPr lang="en-US" sz="900" u="sng" dirty="0">
                          <a:solidFill>
                            <a:srgbClr val="1155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doi.org/10.3390/en17225582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Proposes Genetic Algorithm-tuned Random Forest for remaining capacity (SOH-adjacent) estimation, tested explicitly across varying thermal conditions (25°C to −20°C)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GA-optimized RF reduced MAE by 41–50% and RMSE by 18–31% vs. non-optimized RF baseline across tested temperature range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 tuning adds significant training-time overhead — may work against the fast incremental-retraining goal of Phase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Lelli, Musa, Batista, Misul &amp; Belingardi (2023)
</a:t>
                      </a:r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Energies — MDPI
</a:t>
                      </a:r>
                      <a:pPr algn="l" indent="0" marL="0">
                        <a:buNone/>
                      </a:pPr>
                      <a:r>
                        <a:rPr lang="en-US" sz="900" u="sng" dirty="0">
                          <a:solidFill>
                            <a:srgbClr val="1155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doi.org/10.3390/en16124639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on-road data from 12 actual vehicles at Hyundai Motor Europe test center used to estimate SOH — closest published precedent to this project's Phase 3 live-vehicle validation goal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outperformed five other ML methods (linear regression, k-NN, SVM, CART, neural network) with up to 96–97% MAE reduction over the weakest baseline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specialized on-vehicle calibration tools (ETAS INCA/MDA) and manufacturer-level hardware access — a real constraint for Phase 3 hardware planning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2026-09-13T08:54:08Z</dcterms:created>
  <dcterms:modified xsi:type="dcterms:W3CDTF">2026-09-13T08:54:08Z</dcterms:modified>
</cp:coreProperties>
</file>